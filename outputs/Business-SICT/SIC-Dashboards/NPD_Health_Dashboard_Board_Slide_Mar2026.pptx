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NEW PRODUCT RELEASE — HEALTH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EC5"/>
                </a:solidFill>
              </a:defRPr>
            </a:pPr>
            <a:r>
              <a:t>Silicon Craft Technology  |  Board of Directors  |  March 2026  |  LEAN Management Assessment  |  Currency: THB  |  FX: 33 THB/USD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AB40"/>
                </a:solidFill>
              </a:defRPr>
            </a:pPr>
            <a:r>
              <a:t>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8288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173736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32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TOTAL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8 Active  |  2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822960"/>
            <a:ext cx="18288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868680"/>
            <a:ext cx="173736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932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TOTAL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143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114.7M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THB (~$3.5M USD)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822960"/>
            <a:ext cx="18288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868680"/>
            <a:ext cx="173736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932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ACTUAL REV (23-25)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143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69.5M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THB (~$2.1M USD)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822960"/>
            <a:ext cx="18288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868680"/>
            <a:ext cx="17373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932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LIFETIME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143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1.06B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THB projected (~$32M USD)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822960"/>
            <a:ext cx="18288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868680"/>
            <a:ext cx="173736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932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PORTFOLIO GP (AVG)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143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Range: 32% – 82%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822960"/>
            <a:ext cx="214884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868680"/>
            <a:ext cx="2057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9144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</a:defRPr>
            </a:pPr>
            <a:r>
              <a:t>OVERALL RAG STATUS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112471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1133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14996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GREEN</a:t>
            </a:r>
          </a:p>
        </p:txBody>
      </p:sp>
      <p:sp>
        <p:nvSpPr>
          <p:cNvPr id="37" name="Oval 36"/>
          <p:cNvSpPr/>
          <p:nvPr/>
        </p:nvSpPr>
        <p:spPr>
          <a:xfrm>
            <a:off x="11155680" y="1124712"/>
            <a:ext cx="365760" cy="36576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1133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14996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AMBER</a:t>
            </a:r>
          </a:p>
        </p:txBody>
      </p:sp>
      <p:sp>
        <p:nvSpPr>
          <p:cNvPr id="40" name="Oval 39"/>
          <p:cNvSpPr/>
          <p:nvPr/>
        </p:nvSpPr>
        <p:spPr>
          <a:xfrm>
            <a:off x="11795760" y="1124712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95760" y="1133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50040" y="14996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A6A"/>
                </a:solidFill>
              </a:defRPr>
            </a:pPr>
            <a:r>
              <a:t>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PRODUCT PORTFOLIO — LEAN SCORECARD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1920240"/>
          <a:ext cx="1133856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31520"/>
                <a:gridCol w="640080"/>
                <a:gridCol w="914400"/>
                <a:gridCol w="822960"/>
                <a:gridCol w="914400"/>
                <a:gridCol w="822960"/>
                <a:gridCol w="731520"/>
                <a:gridCol w="640080"/>
                <a:gridCol w="640080"/>
                <a:gridCol w="292608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Chip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Launch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BC Rev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Actual Rev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Traj %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GP %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Rev RAG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Action Required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2201D-LFT-FOUP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SIC73F1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12.8M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73.4M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64.8M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F6C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 anchor="ctr" marL="45720" marR="45720" marT="18288" marB="18288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Finance to review COGS vs BC (+9pp gap)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2218D-SEN-SIC4343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SIC4343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1.5M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2.3M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64K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45720" marR="45720" marT="18288" marB="18288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45720" marR="45720" marT="18288" marB="18288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Exec review: viability &amp; market fit (immediate)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2003D-LFT-SIC7805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SIC7150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29.4M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4.3M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45720" marR="45720" marT="18288" marB="18288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Payback 4.5yr vs target 1.9yr — restructure review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2406D-CNT-GT12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SIC279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4.8M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330K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F6C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 anchor="ctr" marL="45720" marR="45720" marT="18288" marB="18288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F6C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 anchor="ctr" marL="45720" marR="45720" marT="18288" marB="18288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Sales: customer update + revised ramp forecast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2415D-CNT-Dragon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SIC72A1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1.2M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167K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45720" marR="45720" marT="18288" marB="18288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Payback 4.9yr vs target 2.1yr — restructure review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2417D-CNT-Marlin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SIC72A2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12.7M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164K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Early stage — monitor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2112D-CNT-NFCV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SIC56NL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34.9M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19K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Early stage — monitor (largest investment)</a:t>
                      </a:r>
                    </a:p>
                  </a:txBody>
                  <a:tcPr anchor="ctr" marL="45720" marR="45720" marT="18288" marB="18288">
                    <a:solidFill>
                      <a:srgbClr val="FAFAFA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1805D-HDX3-SIC379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SIC379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12K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45720" marR="45720" marT="18288" marB="18288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Early stage — monitor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457200" y="4434840"/>
            <a:ext cx="539496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262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KEY INSIGHTS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4809744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754880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2E"/>
                </a:solidFill>
              </a:defRPr>
            </a:pPr>
            <a:r>
              <a:t>FOUP (SIC73F1) — Portfolio Anchor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90118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5A6A"/>
                </a:solidFill>
              </a:defRPr>
            </a:pPr>
            <a:r>
              <a:t>88% trajectory, THB 64.8M actual revenue, investment fully recovered (5.1x). GP 9pp below BC target — COGS review needed.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" y="5166360"/>
            <a:ext cx="73152" cy="7315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111496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2E"/>
                </a:solidFill>
              </a:defRPr>
            </a:pPr>
            <a:r>
              <a:t>SIC4343 — Critical Alert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257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5A6A"/>
                </a:solidFill>
              </a:defRPr>
            </a:pPr>
            <a:r>
              <a:t>Revenue at 3% of plan (THB 2.2M gap). Structural miss, not timing. Requires immediate viability assessment.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" y="5522976"/>
            <a:ext cx="73152" cy="73152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468112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2E"/>
                </a:solidFill>
              </a:defRPr>
            </a:pPr>
            <a:r>
              <a:t>SIC7805 &amp; Dragon — Payback Concern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6144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5A6A"/>
                </a:solidFill>
              </a:defRPr>
            </a:pPr>
            <a:r>
              <a:t>Revenue on track but payback pace 2-3x slower than BC target. High investment (THB 30.6M combined) needs recovery plan.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" y="5879592"/>
            <a:ext cx="73152" cy="7315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824728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2E"/>
                </a:solidFill>
              </a:defRPr>
            </a:pPr>
            <a:r>
              <a:t>6 New Products (2025 Launch)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9710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5A6A"/>
                </a:solidFill>
              </a:defRPr>
            </a:pPr>
            <a:r>
              <a:t>THB 82.7M invested. All early-stage GREEN on revenue trajectory. NFCV (THB 34.9M) is largest bet — lifetime projected THB 227M.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" y="6236208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181344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2E"/>
                </a:solidFill>
              </a:defRPr>
            </a:pPr>
            <a:r>
              <a:t>Forward Portfolio Value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63276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5A6A"/>
                </a:solidFill>
              </a:defRPr>
            </a:pPr>
            <a:r>
              <a:t>THB 1.06B projected lifetime revenue across 10 products vs THB 114.7M total investment. Portfolio-level ROI strong despite individual misses.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0" y="4434840"/>
            <a:ext cx="5699455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35040" y="4434840"/>
            <a:ext cx="54864" cy="2194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45262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</a:defRPr>
            </a:pPr>
            <a:r>
              <a:t>BOARD DECISIONS REQUIRED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4791456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4782312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47640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SIC4343 — Continue, restructure, or exit?  Revenue at 3% of plan after 20 months. Investment THB 1.5M. Forward BC projects THB 26.7M lifetime if trajectory recovers. Recommendation: conduct 30-day product-market fit review before kill decision.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5148072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5138928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5120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SIC7805 &amp; Dragon — Accept extended payback or intervene?  Both products have green revenue trajectory but payback pace 2-3x above BC target. Combined investment THB 30.6M. Options: (a) accept longer payback given positive revenue, (b) restructure cost base, (c) accelerate sales pipeline.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504688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549554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520" y="5477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GT12 (SIC279) — Approve revised ramp forecast?  Zero revenue 8 months post-launch vs THB 330K BC. Sales reports customer delays, not product issues. Need customer confirmation and revised timeline before next PLM review.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5861304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0" y="5852160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6520" y="5833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FOUP GP erosion — Approve pricing/COGS review?  GP at 77% vs 86% BC target on THB 64.8M revenue base. Each 1pp = ~THB 650K impact. Finance + PLM to investigate whether pricing pressure or cost structure.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6217920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6208776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6190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NFCV (THB 34.9M) — Largest single investment. Confirm milestone gate criteria for D3→RFS progression.  Lifetime projected THB 227M — strong ROI if execution holds.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4A5A6A"/>
                </a:solidFill>
              </a:defRPr>
            </a:pPr>
            <a:r>
              <a:t>RAG = Trajectory vs Plan (not snapshot)  |  No Orphan Reds  |  Scoring: Revenue 40% + GP 30% + ROI 30%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6675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4A5A6A"/>
                </a:solidFill>
              </a:defRPr>
            </a:pPr>
            <a:r>
              <a:t>Source: NPD Health Dashboard, PLM Data —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