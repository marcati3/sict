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6"/>
  </p:notesMasterIdLst>
  <p:sldIdLst>
    <p:sldId id="1015" r:id="rId5"/>
  </p:sldIdLst>
  <p:sldSz cx="12192000" cy="6858000"/>
  <p:notesSz cx="6858000" cy="9144000"/>
  <p:defaultTextStyle>
    <a:defPPr>
      <a:defRPr lang="en-001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D828A55-259D-4985-84E0-4DAE63218C41}">
          <p14:sldIdLst>
            <p14:sldId id="101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088" userDrawn="1">
          <p15:clr>
            <a:srgbClr val="A4A3A4"/>
          </p15:clr>
        </p15:guide>
        <p15:guide id="2" pos="42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AAF"/>
    <a:srgbClr val="3267B2"/>
    <a:srgbClr val="6699FF"/>
    <a:srgbClr val="FFC127"/>
    <a:srgbClr val="90DB26"/>
    <a:srgbClr val="FF6339"/>
    <a:srgbClr val="7569BC"/>
    <a:srgbClr val="66D3D0"/>
    <a:srgbClr val="90CEF6"/>
    <a:srgbClr val="C6C6C6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E72C24-C646-4792-BCE8-1581B2BA065F}" v="1" dt="2026-03-17T05:45:59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4404" autoAdjust="0"/>
  </p:normalViewPr>
  <p:slideViewPr>
    <p:cSldViewPr snapToGrid="0">
      <p:cViewPr varScale="1">
        <p:scale>
          <a:sx n="101" d="100"/>
          <a:sy n="101" d="100"/>
        </p:scale>
        <p:origin x="966" y="102"/>
      </p:cViewPr>
      <p:guideLst>
        <p:guide orient="horz" pos="4088"/>
        <p:guide pos="4248"/>
      </p:guideLst>
    </p:cSldViewPr>
  </p:slideViewPr>
  <p:outlineViewPr>
    <p:cViewPr>
      <p:scale>
        <a:sx n="33" d="100"/>
        <a:sy n="33" d="100"/>
      </p:scale>
      <p:origin x="0" y="-6384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6928"/>
    </p:cViewPr>
  </p:sorter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579312-2545-4512-AC69-752328DE9CE7}" type="datetimeFigureOut">
              <a:rPr lang="en-001" smtClean="0"/>
              <a:t>03/17/2026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0EDB48-DD7A-4CB3-93FB-B3906A0DC41E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641131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ernal Use">
    <p:bg>
      <p:bgPr>
        <a:solidFill>
          <a:srgbClr val="EFEF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olorful circle with text&#10;&#10;AI-generated content may be incorrect.">
            <a:extLst>
              <a:ext uri="{FF2B5EF4-FFF2-40B4-BE49-F238E27FC236}">
                <a16:creationId xmlns:a16="http://schemas.microsoft.com/office/drawing/2014/main" id="{38B74802-BCE3-4BAB-1ECB-DE6477CE25B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260351" cy="6870701"/>
          </a:xfrm>
          <a:prstGeom prst="rect">
            <a:avLst/>
          </a:prstGeom>
        </p:spPr>
      </p:pic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56192649-CF2E-AA4E-7250-CF97442FAF7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3C66634-7E77-48E4-9E92-91C664F728BD}" type="datetime8">
              <a:rPr lang="en-001" smtClean="0"/>
              <a:t>03/17/2026 16:01</a:t>
            </a:fld>
            <a:endParaRPr lang="en-001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2EC54BD-9D1C-E2A0-80FA-E323C7DCBF3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001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D5516FC-685F-E336-9A71-D26CFDF2884F}"/>
              </a:ext>
            </a:extLst>
          </p:cNvPr>
          <p:cNvGrpSpPr/>
          <p:nvPr/>
        </p:nvGrpSpPr>
        <p:grpSpPr>
          <a:xfrm>
            <a:off x="10475843" y="-42784"/>
            <a:ext cx="1716157" cy="400110"/>
            <a:chOff x="10475843" y="-38982"/>
            <a:chExt cx="1716157" cy="4001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87D87BE-187E-C206-900E-6786E5B8B97F}"/>
                </a:ext>
              </a:extLst>
            </p:cNvPr>
            <p:cNvSpPr/>
            <p:nvPr userDrawn="1"/>
          </p:nvSpPr>
          <p:spPr>
            <a:xfrm>
              <a:off x="11530262" y="49096"/>
              <a:ext cx="661738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 dirty="0">
                <a:solidFill>
                  <a:srgbClr val="2B5C9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5784AB3-33C2-342C-8442-39B744C65193}"/>
                </a:ext>
              </a:extLst>
            </p:cNvPr>
            <p:cNvSpPr txBox="1"/>
            <p:nvPr userDrawn="1"/>
          </p:nvSpPr>
          <p:spPr>
            <a:xfrm>
              <a:off x="10475843" y="-38982"/>
              <a:ext cx="122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Arial Nova" panose="020B0504020202020204" pitchFamily="34" charset="0"/>
                  <a:ea typeface="Inter Light" panose="020B0502030000000004" pitchFamily="34" charset="0"/>
                </a:rPr>
                <a:t>INTERNAL USE</a:t>
              </a:r>
              <a:endParaRPr lang="en-001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Inter Light" panose="020B05020300000000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001" sz="1000" dirty="0">
                <a:solidFill>
                  <a:schemeClr val="tx1">
                    <a:lumMod val="65000"/>
                    <a:lumOff val="35000"/>
                  </a:schemeClr>
                </a:solidFill>
                <a:latin typeface="Arial Nova" panose="020B0504020202020204" pitchFamily="34" charset="0"/>
                <a:ea typeface="Inter Light" panose="020B0502030000000004" pitchFamily="34" charset="0"/>
              </a:endParaRPr>
            </a:p>
          </p:txBody>
        </p:sp>
      </p:grp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4842EE89-A339-5570-98E5-574A2E6AC8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8341" y="3103558"/>
            <a:ext cx="43880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4800">
                <a:solidFill>
                  <a:srgbClr val="1E6AAF"/>
                </a:solidFill>
              </a:defRPr>
            </a:lvl1pPr>
          </a:lstStyle>
          <a:p>
            <a:r>
              <a:rPr lang="en-US" dirty="0"/>
              <a:t>Master title style</a:t>
            </a:r>
            <a:endParaRPr lang="en-00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ED9D18-E2A7-B6B4-0D7C-2DA4C25681EE}"/>
              </a:ext>
            </a:extLst>
          </p:cNvPr>
          <p:cNvGrpSpPr/>
          <p:nvPr/>
        </p:nvGrpSpPr>
        <p:grpSpPr>
          <a:xfrm>
            <a:off x="114711" y="6354366"/>
            <a:ext cx="1524000" cy="454422"/>
            <a:chOff x="5966032" y="1685895"/>
            <a:chExt cx="5334000" cy="154305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1180FCED-616F-78D9-20E4-14AA780D02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966032" y="1685895"/>
              <a:ext cx="5334000" cy="1543050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52562A36-EF9B-CCF9-A632-A3DB71D61B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25187" y="2781741"/>
              <a:ext cx="3570172" cy="3111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12964090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 White Backg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8D6E2-4C23-BD84-1F36-0A853D2B3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5950"/>
          </a:xfrm>
        </p:spPr>
        <p:txBody>
          <a:bodyPr/>
          <a:lstStyle>
            <a:lvl1pPr algn="ctr">
              <a:defRPr b="1" i="0">
                <a:solidFill>
                  <a:srgbClr val="1E6AAF"/>
                </a:solidFill>
                <a:latin typeface="Arial Nova" panose="020B0504020202020204" pitchFamily="34" charset="0"/>
                <a:ea typeface="Arial Nova" panose="020B05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001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5B00B-B5FD-7DFC-E0DB-C875ABAAB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90D01181-F6B5-4D92-9334-2527666AC522}" type="datetime8">
              <a:rPr lang="en-001" smtClean="0"/>
              <a:t>03/17/2026 16:01</a:t>
            </a:fld>
            <a:endParaRPr lang="en-00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84D66-BAAC-0179-8CC2-DAED0522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endParaRPr lang="en-001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436276-5B25-72C2-BECA-91C6200A64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 Nova" panose="020B0504020202020204" pitchFamily="34" charset="0"/>
              </a:defRPr>
            </a:lvl1pPr>
          </a:lstStyle>
          <a:p>
            <a:fld id="{06A78F1A-E230-4C4B-946B-16A17CB2DC0F}" type="slidenum">
              <a:rPr lang="en-001" smtClean="0"/>
              <a:t>‹#›</a:t>
            </a:fld>
            <a:endParaRPr lang="en-001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4A481F1-B96F-D518-EAA2-B1F6824FF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9642"/>
            <a:ext cx="10515600" cy="4982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latin typeface="Arial Nova" panose="020B0504020202020204" pitchFamily="34" charset="0"/>
              </a:defRPr>
            </a:lvl1pPr>
            <a:lvl2pPr>
              <a:defRPr lang="en-US" dirty="0">
                <a:latin typeface="Arial Nova" panose="020B0504020202020204" pitchFamily="34" charset="0"/>
              </a:defRPr>
            </a:lvl2pPr>
            <a:lvl3pPr>
              <a:defRPr lang="en-US" dirty="0">
                <a:latin typeface="Arial Nova" panose="020B0504020202020204" pitchFamily="34" charset="0"/>
              </a:defRPr>
            </a:lvl3pPr>
            <a:lvl4pPr>
              <a:defRPr lang="en-US" dirty="0">
                <a:latin typeface="Arial Nova" panose="020B0504020202020204" pitchFamily="34" charset="0"/>
              </a:defRPr>
            </a:lvl4pPr>
            <a:lvl5pPr>
              <a:defRPr lang="en-US" dirty="0">
                <a:latin typeface="Arial Nova" panose="020B0504020202020204" pitchFamily="34" charset="0"/>
              </a:defRPr>
            </a:lvl5pPr>
            <a:lvl6pPr>
              <a:defRPr lang="en-001" dirty="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 dirty="0"/>
          </a:p>
        </p:txBody>
      </p:sp>
    </p:spTree>
    <p:extLst>
      <p:ext uri="{BB962C8B-B14F-4D97-AF65-F5344CB8AC3E}">
        <p14:creationId xmlns:p14="http://schemas.microsoft.com/office/powerpoint/2010/main" val="2575344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_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970A-6148-E300-7907-FC4F860F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7375"/>
          </a:xfrm>
        </p:spPr>
        <p:txBody>
          <a:bodyPr/>
          <a:lstStyle>
            <a:lvl1pPr>
              <a:defRPr>
                <a:solidFill>
                  <a:srgbClr val="1E6AA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00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0DBAF-524E-902B-AF97-FCCAE17C6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131887"/>
            <a:ext cx="5181600" cy="5045076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9FE527-92CD-B248-027B-75DDE6E7B0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31887"/>
            <a:ext cx="5181600" cy="5045076"/>
          </a:xfrm>
          <a:prstGeom prst="rect">
            <a:avLst/>
          </a:prstGeo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DE6CDC-6B6D-2584-F66E-C48BD95F17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D3DC2BF-99FC-41DF-AB4C-D1FAA5B5498C}" type="datetime8">
              <a:rPr lang="en-001" smtClean="0"/>
              <a:t>03/17/2026 16:01</a:t>
            </a:fld>
            <a:endParaRPr lang="en-001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CDEFE-5B77-5D8D-E449-F2F2168FC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001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1D897F-1E46-1CD3-3138-EA7DD87A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A78F1A-E230-4C4B-946B-16A17CB2DC0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2161191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480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4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E28D2-C213-470F-E818-FFBE90A71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001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995B2-C3E6-889A-D1E7-B664E63FF9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fld id="{23C66634-7E77-48E4-9E92-91C664F728BD}" type="datetime8">
              <a:rPr lang="en-001" smtClean="0"/>
              <a:t>03/17/2026 16:01</a:t>
            </a:fld>
            <a:endParaRPr lang="en-001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750CA-A6FC-5B1F-C17E-0A2F0B941C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 Nova" panose="020B0504020202020204" pitchFamily="34" charset="0"/>
              </a:defRPr>
            </a:lvl1pPr>
          </a:lstStyle>
          <a:p>
            <a:endParaRPr lang="en-00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FDEAC-7401-2AAB-1D25-31BAC983C9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353550" y="64693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Arial Nova" panose="020B0504020202020204" pitchFamily="34" charset="0"/>
                <a:ea typeface="Inter Light" panose="020B0502030000000004" pitchFamily="34" charset="0"/>
              </a:defRPr>
            </a:lvl1pPr>
          </a:lstStyle>
          <a:p>
            <a:fld id="{06A78F1A-E230-4C4B-946B-16A17CB2DC0F}" type="slidenum">
              <a:rPr lang="en-001" smtClean="0"/>
              <a:pPr/>
              <a:t>‹#›</a:t>
            </a:fld>
            <a:endParaRPr lang="en-001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CF600A-6AAB-7E45-D4B0-EF08B3B6A594}"/>
              </a:ext>
            </a:extLst>
          </p:cNvPr>
          <p:cNvGrpSpPr/>
          <p:nvPr/>
        </p:nvGrpSpPr>
        <p:grpSpPr>
          <a:xfrm>
            <a:off x="10475843" y="-42784"/>
            <a:ext cx="1716157" cy="400110"/>
            <a:chOff x="10475843" y="-38982"/>
            <a:chExt cx="1716157" cy="40011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3C2B3D4-AB2D-D8C5-86AE-8864E6011E46}"/>
                </a:ext>
              </a:extLst>
            </p:cNvPr>
            <p:cNvSpPr/>
            <p:nvPr userDrawn="1"/>
          </p:nvSpPr>
          <p:spPr>
            <a:xfrm>
              <a:off x="11530262" y="49096"/>
              <a:ext cx="661738" cy="45719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001" dirty="0">
                <a:solidFill>
                  <a:srgbClr val="2B5C9F"/>
                </a:solidFill>
                <a:latin typeface="Arial Nova" panose="020B0504020202020204" pitchFamily="34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591FCE5-8B20-2E8B-562B-EC6B3F644D96}"/>
                </a:ext>
              </a:extLst>
            </p:cNvPr>
            <p:cNvSpPr txBox="1"/>
            <p:nvPr userDrawn="1"/>
          </p:nvSpPr>
          <p:spPr>
            <a:xfrm>
              <a:off x="10475843" y="-38982"/>
              <a:ext cx="12272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dirty="0">
                  <a:solidFill>
                    <a:schemeClr val="bg2">
                      <a:lumMod val="75000"/>
                    </a:schemeClr>
                  </a:solidFill>
                  <a:latin typeface="Arial Nova" panose="020B0504020202020204" pitchFamily="34" charset="0"/>
                  <a:ea typeface="Inter Light" panose="020B0502030000000004" pitchFamily="34" charset="0"/>
                </a:rPr>
                <a:t>INTERNAL USE</a:t>
              </a:r>
              <a:endParaRPr lang="en-001" sz="1000" dirty="0">
                <a:solidFill>
                  <a:schemeClr val="bg2">
                    <a:lumMod val="75000"/>
                  </a:schemeClr>
                </a:solidFill>
                <a:latin typeface="Arial Nova" panose="020B0504020202020204" pitchFamily="34" charset="0"/>
                <a:ea typeface="Inter Light" panose="020B05020300000000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001" sz="1000" dirty="0">
                <a:solidFill>
                  <a:schemeClr val="bg2">
                    <a:lumMod val="75000"/>
                  </a:schemeClr>
                </a:solidFill>
                <a:latin typeface="Arial Nova" panose="020B0504020202020204" pitchFamily="34" charset="0"/>
                <a:ea typeface="Inter Light" panose="020B05020300000000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302E0A3-CFA2-D758-DB3A-57B2C25CDBBA}"/>
              </a:ext>
            </a:extLst>
          </p:cNvPr>
          <p:cNvGrpSpPr/>
          <p:nvPr/>
        </p:nvGrpSpPr>
        <p:grpSpPr>
          <a:xfrm>
            <a:off x="1" y="6253400"/>
            <a:ext cx="664907" cy="604600"/>
            <a:chOff x="1" y="6253400"/>
            <a:chExt cx="664907" cy="604600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7BA394E-9493-F722-0F91-3C754201BB1B}"/>
                </a:ext>
              </a:extLst>
            </p:cNvPr>
            <p:cNvSpPr/>
            <p:nvPr userDrawn="1"/>
          </p:nvSpPr>
          <p:spPr>
            <a:xfrm>
              <a:off x="1" y="6253400"/>
              <a:ext cx="664907" cy="604600"/>
            </a:xfrm>
            <a:custGeom>
              <a:avLst/>
              <a:gdLst>
                <a:gd name="connsiteX0" fmla="*/ 37467 w 664907"/>
                <a:gd name="connsiteY0" fmla="*/ 0 h 604600"/>
                <a:gd name="connsiteX1" fmla="*/ 654668 w 664907"/>
                <a:gd name="connsiteY1" fmla="*/ 503033 h 604600"/>
                <a:gd name="connsiteX2" fmla="*/ 664907 w 664907"/>
                <a:gd name="connsiteY2" fmla="*/ 604600 h 604600"/>
                <a:gd name="connsiteX3" fmla="*/ 0 w 664907"/>
                <a:gd name="connsiteY3" fmla="*/ 604600 h 604600"/>
                <a:gd name="connsiteX4" fmla="*/ 0 w 664907"/>
                <a:gd name="connsiteY4" fmla="*/ 3777 h 604600"/>
                <a:gd name="connsiteX5" fmla="*/ 37467 w 664907"/>
                <a:gd name="connsiteY5" fmla="*/ 0 h 60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64907" h="604600">
                  <a:moveTo>
                    <a:pt x="37467" y="0"/>
                  </a:moveTo>
                  <a:cubicBezTo>
                    <a:pt x="341914" y="0"/>
                    <a:pt x="595922" y="215953"/>
                    <a:pt x="654668" y="503033"/>
                  </a:cubicBezTo>
                  <a:lnTo>
                    <a:pt x="664907" y="604600"/>
                  </a:lnTo>
                  <a:lnTo>
                    <a:pt x="0" y="604600"/>
                  </a:lnTo>
                  <a:lnTo>
                    <a:pt x="0" y="3777"/>
                  </a:lnTo>
                  <a:lnTo>
                    <a:pt x="37467" y="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001">
                <a:latin typeface="Arial Nova" panose="020B0504020202020204" pitchFamily="34" charset="0"/>
              </a:endParaRPr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F5AB812E-50AB-2098-AD54-7DA93E17B84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13033" y="6443023"/>
              <a:ext cx="293367" cy="301943"/>
            </a:xfrm>
            <a:prstGeom prst="rect">
              <a:avLst/>
            </a:prstGeom>
          </p:spPr>
        </p:pic>
      </p:grp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EBE97CC-8B1A-D59F-5C94-ECBE02BCB3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9600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FBA266D-A661-CE76-EEB0-D0CBBBC05B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67219" y="6777990"/>
            <a:ext cx="7457562" cy="8001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89BBD13-07F1-C0BF-4139-D789A0797EA7}"/>
              </a:ext>
            </a:extLst>
          </p:cNvPr>
          <p:cNvSpPr/>
          <p:nvPr userDrawn="1"/>
        </p:nvSpPr>
        <p:spPr>
          <a:xfrm>
            <a:off x="11530262" y="45294"/>
            <a:ext cx="661738" cy="45719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001" dirty="0">
              <a:solidFill>
                <a:srgbClr val="2B5C9F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D28A4D-4464-5BBC-7E20-86982F06C92A}"/>
              </a:ext>
            </a:extLst>
          </p:cNvPr>
          <p:cNvSpPr/>
          <p:nvPr userDrawn="1"/>
        </p:nvSpPr>
        <p:spPr>
          <a:xfrm>
            <a:off x="1" y="6253400"/>
            <a:ext cx="664907" cy="604600"/>
          </a:xfrm>
          <a:custGeom>
            <a:avLst/>
            <a:gdLst>
              <a:gd name="connsiteX0" fmla="*/ 37467 w 664907"/>
              <a:gd name="connsiteY0" fmla="*/ 0 h 604600"/>
              <a:gd name="connsiteX1" fmla="*/ 654668 w 664907"/>
              <a:gd name="connsiteY1" fmla="*/ 503033 h 604600"/>
              <a:gd name="connsiteX2" fmla="*/ 664907 w 664907"/>
              <a:gd name="connsiteY2" fmla="*/ 604600 h 604600"/>
              <a:gd name="connsiteX3" fmla="*/ 0 w 664907"/>
              <a:gd name="connsiteY3" fmla="*/ 604600 h 604600"/>
              <a:gd name="connsiteX4" fmla="*/ 0 w 664907"/>
              <a:gd name="connsiteY4" fmla="*/ 3777 h 604600"/>
              <a:gd name="connsiteX5" fmla="*/ 37467 w 664907"/>
              <a:gd name="connsiteY5" fmla="*/ 0 h 60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64907" h="604600">
                <a:moveTo>
                  <a:pt x="37467" y="0"/>
                </a:moveTo>
                <a:cubicBezTo>
                  <a:pt x="341914" y="0"/>
                  <a:pt x="595922" y="215953"/>
                  <a:pt x="654668" y="503033"/>
                </a:cubicBezTo>
                <a:lnTo>
                  <a:pt x="664907" y="604600"/>
                </a:lnTo>
                <a:lnTo>
                  <a:pt x="0" y="604600"/>
                </a:lnTo>
                <a:lnTo>
                  <a:pt x="0" y="3777"/>
                </a:lnTo>
                <a:lnTo>
                  <a:pt x="37467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001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8741A7AC-DA5F-1CBD-32FA-DE75AD0EF8B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3033" y="6443023"/>
            <a:ext cx="293367" cy="301943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8F39A512-66DA-D162-ADE0-B85C48C7F9E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67219" y="6777990"/>
            <a:ext cx="7457562" cy="80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97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8" r:id="rId3"/>
    <p:sldLayoutId id="214748368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 baseline="0">
          <a:solidFill>
            <a:schemeClr val="tx1"/>
          </a:solidFill>
          <a:latin typeface="Arial Nova" panose="020B0504020202020204" pitchFamily="34" charset="0"/>
          <a:ea typeface="Arial Nova" panose="020B0504020202020204" pitchFamily="34" charset="0"/>
          <a:cs typeface="Noto Sans Thai ExtraBold" panose="020B0502040504020204" pitchFamily="34" charset="-34"/>
        </a:defRPr>
      </a:lvl1pPr>
    </p:titleStyle>
    <p:bodyStyle>
      <a:lvl1pPr marL="271463" indent="-3060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 baseline="0">
          <a:solidFill>
            <a:schemeClr val="tx1"/>
          </a:solidFill>
          <a:latin typeface="Arial Nova" panose="020B0504020202020204" pitchFamily="34" charset="0"/>
          <a:ea typeface="Inter Light" panose="020B0502030000000004" pitchFamily="34" charset="0"/>
          <a:cs typeface="Noto Sans Thai Light" panose="020B0502040504020204" pitchFamily="34" charset="-34"/>
        </a:defRPr>
      </a:lvl1pPr>
      <a:lvl2pPr marL="612000" indent="-271463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 baseline="0">
          <a:solidFill>
            <a:schemeClr val="tx1"/>
          </a:solidFill>
          <a:latin typeface="Arial Nova" panose="020B0504020202020204" pitchFamily="34" charset="0"/>
          <a:ea typeface="Inter Light" panose="020B0502030000000004" pitchFamily="34" charset="0"/>
          <a:cs typeface="Noto Sans Thai Light" panose="020B0502040504020204" pitchFamily="34" charset="-34"/>
        </a:defRPr>
      </a:lvl2pPr>
      <a:lvl3pPr marL="864000" indent="-234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Arial Nova" panose="020B0504020202020204" pitchFamily="34" charset="0"/>
          <a:ea typeface="Inter Light" panose="020B0502030000000004" pitchFamily="34" charset="0"/>
          <a:cs typeface="Noto Sans Thai Light" panose="020B0502040504020204" pitchFamily="34" charset="-34"/>
        </a:defRPr>
      </a:lvl3pPr>
      <a:lvl4pPr marL="1080000" indent="-198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Arial Nova" panose="020B0504020202020204" pitchFamily="34" charset="0"/>
          <a:ea typeface="Inter Light" panose="020B0502030000000004" pitchFamily="34" charset="0"/>
          <a:cs typeface="Noto Sans Thai Light" panose="020B0502040504020204" pitchFamily="34" charset="-34"/>
        </a:defRPr>
      </a:lvl4pPr>
      <a:lvl5pPr marL="1224000" indent="-162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Arial Nova" panose="020B0504020202020204" pitchFamily="34" charset="0"/>
          <a:ea typeface="Inter Light" panose="020B0502030000000004" pitchFamily="34" charset="0"/>
          <a:cs typeface="Noto Sans Thai Light" panose="020B0502040504020204" pitchFamily="34" charset="-34"/>
        </a:defRPr>
      </a:lvl5pPr>
      <a:lvl6pPr marL="2571750" indent="-28575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001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0713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 sz="2400"/>
          </a:p>
        </p:txBody>
      </p:sp>
      <p:sp>
        <p:nvSpPr>
          <p:cNvPr id="3" name="Text 1"/>
          <p:cNvSpPr/>
          <p:nvPr/>
        </p:nvSpPr>
        <p:spPr>
          <a:xfrm>
            <a:off x="426720" y="48768"/>
            <a:ext cx="6705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Sales Trip — 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6705600" y="48768"/>
            <a:ext cx="51206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·  10 Customer Meetings  ·  Tunn &amp; Chayasorn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77824"/>
            <a:ext cx="268224" cy="268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7136" y="865632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2E86A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INDIA MARKET CONTEXT</a:t>
            </a:r>
            <a:endParaRPr lang="en-US" sz="1267" dirty="0"/>
          </a:p>
        </p:txBody>
      </p:sp>
      <p:sp>
        <p:nvSpPr>
          <p:cNvPr id="7" name="Text 4"/>
          <p:cNvSpPr/>
          <p:nvPr/>
        </p:nvSpPr>
        <p:spPr>
          <a:xfrm>
            <a:off x="365760" y="1022395"/>
            <a:ext cx="5632704" cy="1402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RFID market: ~$570M (2026) → $1.2B by 2032 (12% CAGR)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FASTag: 60M+ tags deployed; 97% highway penetration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UHF retail surge: Reliance &amp; Flipkart deploying RFID in DCs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market: 2.3M EVs sold (2025); 57% 2-wheelers; battery swap stations 5x in 2 yrs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Semiconductor Mission 2.0: $15B+ committed; Tata-Powerchip fab in Gujarat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0144" y="2305909"/>
            <a:ext cx="5425440" cy="14631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001" sz="240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372100"/>
            <a:ext cx="268224" cy="2682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07136" y="2359908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B73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CONFIRMED ORDERS &amp; PIPELINE</a:t>
            </a:r>
            <a:endParaRPr lang="en-US" sz="1267" dirty="0"/>
          </a:p>
        </p:txBody>
      </p:sp>
      <p:sp>
        <p:nvSpPr>
          <p:cNvPr id="11" name="Text 7"/>
          <p:cNvSpPr/>
          <p:nvPr/>
        </p:nvSpPr>
        <p:spPr>
          <a:xfrm>
            <a:off x="361404" y="2618053"/>
            <a:ext cx="5509911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Omnia: SIC56NL 560k pcs ($37k) + APK ID: SIC279 1M pcs ($230k) = $267k new order received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APK ID: Animal ID (HDX+FDX) 2.5M pcs/yr target ($344k)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Syrma + Rapid Radio: SIC56NL library/laundry 5-7.5M pcs/yr addressable ($255k)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Autocomp: RA12 EV charger ~25k pilot (MP Jul-Aug 2026) → 100k pcs (2027) ($55k)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Syrma: SIC43S1 NFC pharma auth — 10M unit pricing request ($780k)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Elektronika: NPCI merchant NFC first tender 33M tags ($5.7¢ benchmark) ($500k)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365760" y="4319212"/>
            <a:ext cx="5425440" cy="14631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001" sz="240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377060"/>
            <a:ext cx="268224" cy="26822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07136" y="4364868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GROWTH VECTORS</a:t>
            </a:r>
            <a:endParaRPr lang="en-US" sz="1267" dirty="0"/>
          </a:p>
        </p:txBody>
      </p:sp>
      <p:sp>
        <p:nvSpPr>
          <p:cNvPr id="15" name="Text 10"/>
          <p:cNvSpPr/>
          <p:nvPr/>
        </p:nvSpPr>
        <p:spPr>
          <a:xfrm>
            <a:off x="361405" y="4760117"/>
            <a:ext cx="5569130" cy="1121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Omnia, PVL, Perfect ID, Elektronika: UHF Temp Sensor (UTS) — cold chain, data centers, tires </a:t>
            </a:r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ID: Custom 6D ASIC (high-speed rail) ~1M pcs; ($30k) – need to confirm capability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Radio: EV charging / battery swap — 12 pilot clients (2/3-wheeler)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Radio: IVF ~500k tags/yr (requires 97pF high-C) ($20k) – no available product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998464" y="877824"/>
            <a:ext cx="0" cy="469392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001" sz="240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961803"/>
            <a:ext cx="268224" cy="3133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559296" y="949611"/>
            <a:ext cx="4267200" cy="3418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C75B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6278880" y="1254410"/>
            <a:ext cx="5547360" cy="2498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NXP: HF tag IC (SLIX2) two price increases in 6 months drove customers to ST Micro — SIC can capitalize with SIC56NL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NXP: NTAG 424 DNA: dominant in pharma auth; Syrma pursuing new project — potential opportunity for SIC43S1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Impinj/NXP: UCODE dominating UHF; SIC not yet competitive (UTS gives differentiated entry)</a:t>
            </a:r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 Micro: gaining share vs NXP due to price (ST25TV02K at $3.4¢ die); SIC needs &lt;$3¢ to win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EM: EM4305 prices up ~$0.15 on low demand in India; SIC7150 positioned as replacement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risk: Indian OEMs prefer non-China for security-sensitive ICs — Thailand origin is an advantage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17920" y="3801542"/>
            <a:ext cx="5608320" cy="14631"/>
          </a:xfrm>
          <a:prstGeom prst="rect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001" sz="28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0" y="3923461"/>
            <a:ext cx="268224" cy="26822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559296" y="3911269"/>
            <a:ext cx="426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9B23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RISKS &amp; KEY DEPENDENCIES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6278880" y="4025848"/>
            <a:ext cx="5547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gaps: No PKE, no UHF AES, no logger IC, no MOA8 package — limits addressable market</a:t>
            </a:r>
            <a:endParaRPr lang="en-US" sz="1200" dirty="0"/>
          </a:p>
          <a:p>
            <a:pPr marL="457189" indent="-457189">
              <a:spcAft>
                <a:spcPts val="133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6D ASIC timing: 12+ month dev cycle vs customer deployment window — may lose first-mover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0" y="6033674"/>
            <a:ext cx="12192000" cy="850449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en-001" sz="2400"/>
          </a:p>
        </p:txBody>
      </p:sp>
      <p:sp>
        <p:nvSpPr>
          <p:cNvPr id="25" name="Shape 18"/>
          <p:cNvSpPr/>
          <p:nvPr/>
        </p:nvSpPr>
        <p:spPr>
          <a:xfrm>
            <a:off x="0" y="6034424"/>
            <a:ext cx="12192000" cy="21945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001" sz="2400"/>
          </a:p>
        </p:txBody>
      </p:sp>
      <p:sp>
        <p:nvSpPr>
          <p:cNvPr id="26" name="Text 19"/>
          <p:cNvSpPr/>
          <p:nvPr/>
        </p:nvSpPr>
        <p:spPr>
          <a:xfrm>
            <a:off x="426720" y="6033675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$570M</a:t>
            </a:r>
            <a:endParaRPr lang="en-US" sz="2267" dirty="0"/>
          </a:p>
        </p:txBody>
      </p:sp>
      <p:sp>
        <p:nvSpPr>
          <p:cNvPr id="27" name="Text 20"/>
          <p:cNvSpPr/>
          <p:nvPr/>
        </p:nvSpPr>
        <p:spPr>
          <a:xfrm>
            <a:off x="426720" y="6423819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RFID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2026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2682240" y="6033675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67" dirty="0"/>
          </a:p>
        </p:txBody>
      </p:sp>
      <p:sp>
        <p:nvSpPr>
          <p:cNvPr id="29" name="Text 22"/>
          <p:cNvSpPr/>
          <p:nvPr/>
        </p:nvSpPr>
        <p:spPr>
          <a:xfrm>
            <a:off x="2682240" y="6423819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Visited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937760" y="6033675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</a:t>
            </a:r>
            <a:endParaRPr lang="en-US" sz="2267" dirty="0"/>
          </a:p>
        </p:txBody>
      </p:sp>
      <p:sp>
        <p:nvSpPr>
          <p:cNvPr id="31" name="Text 24"/>
          <p:cNvSpPr/>
          <p:nvPr/>
        </p:nvSpPr>
        <p:spPr>
          <a:xfrm>
            <a:off x="4937760" y="6423819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7193280" y="6033675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$267k</a:t>
            </a:r>
            <a:endParaRPr lang="en-US" sz="2267" dirty="0"/>
          </a:p>
        </p:txBody>
      </p:sp>
      <p:sp>
        <p:nvSpPr>
          <p:cNvPr id="33" name="Text 26"/>
          <p:cNvSpPr/>
          <p:nvPr/>
        </p:nvSpPr>
        <p:spPr>
          <a:xfrm>
            <a:off x="7193280" y="6423819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9448800" y="6033675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267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$5-7.5M</a:t>
            </a:r>
            <a:endParaRPr lang="en-US" sz="2267" dirty="0"/>
          </a:p>
        </p:txBody>
      </p:sp>
      <p:sp>
        <p:nvSpPr>
          <p:cNvPr id="35" name="Text 28"/>
          <p:cNvSpPr/>
          <p:nvPr/>
        </p:nvSpPr>
        <p:spPr>
          <a:xfrm>
            <a:off x="9448800" y="6423819"/>
            <a:ext cx="182880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  <a:p>
            <a:pPr algn="ctr"/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Pcs/Yr (56NL)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werPoint Presentation_Internal Use">
  <a:themeElements>
    <a:clrScheme name="SIC Core Valu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E6AAF"/>
      </a:accent1>
      <a:accent2>
        <a:srgbClr val="66D3D0"/>
      </a:accent2>
      <a:accent3>
        <a:srgbClr val="FFC127"/>
      </a:accent3>
      <a:accent4>
        <a:srgbClr val="90DB26"/>
      </a:accent4>
      <a:accent5>
        <a:srgbClr val="7569BC"/>
      </a:accent5>
      <a:accent6>
        <a:srgbClr val="FF6339"/>
      </a:accent6>
      <a:hlink>
        <a:srgbClr val="FFC127"/>
      </a:hlink>
      <a:folHlink>
        <a:srgbClr val="66D3D0"/>
      </a:folHlink>
    </a:clrScheme>
    <a:fontScheme name="SIC">
      <a:majorFont>
        <a:latin typeface="Arial Nova bold"/>
        <a:ea typeface=""/>
        <a:cs typeface="Noto Sans Thai Bold"/>
      </a:majorFont>
      <a:minorFont>
        <a:latin typeface="Arial Nova"/>
        <a:ea typeface=""/>
        <a:cs typeface="Noto Sans Thai Ligh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 Presentation_Internal Use" id="{86779DBA-B019-491B-8926-FCD6E6174ED4}" vid="{917E6A14-EF18-431A-9A8F-8CA821718B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b712446-01bb-4580-8f75-4f2f143c54e6">
      <Terms xmlns="http://schemas.microsoft.com/office/infopath/2007/PartnerControls"/>
    </lcf76f155ced4ddcb4097134ff3c332f>
    <TaxCatchAll xmlns="9244d6b0-c7fc-4b0b-9b17-9722394bf8c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3BE149DBE6E3C439E4567194F57993C" ma:contentTypeVersion="20" ma:contentTypeDescription="Create a new document." ma:contentTypeScope="" ma:versionID="ee926e507bde5ba6effc9831e6ab5638">
  <xsd:schema xmlns:xsd="http://www.w3.org/2001/XMLSchema" xmlns:xs="http://www.w3.org/2001/XMLSchema" xmlns:p="http://schemas.microsoft.com/office/2006/metadata/properties" xmlns:ns2="9244d6b0-c7fc-4b0b-9b17-9722394bf8c8" xmlns:ns3="5b712446-01bb-4580-8f75-4f2f143c54e6" targetNamespace="http://schemas.microsoft.com/office/2006/metadata/properties" ma:root="true" ma:fieldsID="637812f40f4e947dfa040d9bc2d923d7" ns2:_="" ns3:_="">
    <xsd:import namespace="9244d6b0-c7fc-4b0b-9b17-9722394bf8c8"/>
    <xsd:import namespace="5b712446-01bb-4580-8f75-4f2f143c54e6"/>
    <xsd:element name="properties">
      <xsd:complexType>
        <xsd:sequence>
          <xsd:element name="documentManagement">
            <xsd:complexType>
              <xsd:all>
                <xsd:element ref="ns2:SharedWithDetails" minOccurs="0"/>
                <xsd:element ref="ns2:SharedWithUser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4d6b0-c7fc-4b0b-9b17-9722394bf8c8" elementFormDefault="qualified">
    <xsd:import namespace="http://schemas.microsoft.com/office/2006/documentManagement/types"/>
    <xsd:import namespace="http://schemas.microsoft.com/office/infopath/2007/PartnerControls"/>
    <xsd:element name="SharedWithDetails" ma:index="8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edWithUsers" ma:index="9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astSharedByUser" ma:index="10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1" nillable="true" ma:displayName="Last Shared By Time" ma:description="" ma:internalName="LastSharedByTime" ma:readOnly="true">
      <xsd:simpleType>
        <xsd:restriction base="dms:DateTime"/>
      </xsd:simpleType>
    </xsd:element>
    <xsd:element name="TaxCatchAll" ma:index="25" nillable="true" ma:displayName="Taxonomy Catch All Column" ma:hidden="true" ma:list="{0d600a3c-0014-402c-bebc-5c8bf30f0b1a}" ma:internalName="TaxCatchAll" ma:showField="CatchAllData" ma:web="9244d6b0-c7fc-4b0b-9b17-9722394bf8c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712446-01bb-4580-8f75-4f2f143c54e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2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5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OCR" ma:index="17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1ca7b95e-db9e-4c6f-877f-8dc8e2b2291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935D126-FA18-427D-A1A8-40B8AA2405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CEF7-3536-4528-BDE7-02A2E0F84694}">
  <ds:schemaRefs>
    <ds:schemaRef ds:uri="http://schemas.microsoft.com/office/2006/metadata/properties"/>
    <ds:schemaRef ds:uri="http://www.w3.org/2000/xmlns/"/>
    <ds:schemaRef ds:uri="5b712446-01bb-4580-8f75-4f2f143c54e6"/>
    <ds:schemaRef ds:uri="http://schemas.microsoft.com/office/infopath/2007/PartnerControls"/>
    <ds:schemaRef ds:uri="9244d6b0-c7fc-4b0b-9b17-9722394bf8c8"/>
    <ds:schemaRef ds:uri="http://www.w3.org/2001/XMLSchema-instance"/>
  </ds:schemaRefs>
</ds:datastoreItem>
</file>

<file path=customXml/itemProps3.xml><?xml version="1.0" encoding="utf-8"?>
<ds:datastoreItem xmlns:ds="http://schemas.openxmlformats.org/officeDocument/2006/customXml" ds:itemID="{6A8913A4-1059-418D-A180-478F61B2B0D0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9244d6b0-c7fc-4b0b-9b17-9722394bf8c8"/>
    <ds:schemaRef ds:uri="5b712446-01bb-4580-8f75-4f2f143c54e6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 Presentation_Internal Use</Template>
  <TotalTime>25825</TotalTime>
  <Words>485</Words>
  <Application>Microsoft Office PowerPoint</Application>
  <PresentationFormat>Widescreen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Nova</vt:lpstr>
      <vt:lpstr>Calibri</vt:lpstr>
      <vt:lpstr>Georgia</vt:lpstr>
      <vt:lpstr>PowerPoint Presentation_Internal Use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GUIDELINE: CONFIDENTIAL</dc:title>
  <dc:creator>Chonphansa Kamnerdphan</dc:creator>
  <cp:lastModifiedBy>Marc Spiegel</cp:lastModifiedBy>
  <cp:revision>41</cp:revision>
  <dcterms:created xsi:type="dcterms:W3CDTF">2023-01-23T04:29:26Z</dcterms:created>
  <dcterms:modified xsi:type="dcterms:W3CDTF">2026-03-17T09:02:26Z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0x01010013BE149DBE6E3C439E4567194F57993C</vt:lpwstr>
  </property>
  <property fmtid="{D5CDD505-2E9C-101B-9397-08002B2CF9AE}" pid="3" name="MediaServiceImageTags">
    <vt:lpwstr/>
  </property>
</Properties>
</file>