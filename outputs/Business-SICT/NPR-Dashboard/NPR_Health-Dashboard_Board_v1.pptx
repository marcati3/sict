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E65100"/>
              </a:solidFill>
              <a:effectLst/>
            </c:spPr>
          </c:dPt>
          <c:dPt>
            <c:idx val="2"/>
            <c:bubble3D val="0"/>
            <c:spPr>
              <a:solidFill>
                <a:srgbClr val="C62828"/>
              </a:solidFill>
              <a:effectLst/>
            </c:spPr>
          </c:dPt>
          <c:dPt>
            <c:idx val="3"/>
            <c:bubble3D val="0"/>
            <c:spPr>
              <a:solidFill>
                <a:srgbClr val="9E9E9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2D314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2D314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2D314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2D3142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GREEN (6 chips)</c:v>
                </c:pt>
                <c:pt idx="1">
                  <c:v>AMBER (1 chip)</c:v>
                </c:pt>
                <c:pt idx="2">
                  <c:v>RED (1 chip)</c:v>
                </c:pt>
                <c:pt idx="3">
                  <c:v>N/A (2 chips)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BC Projection</c:v>
                </c:pt>
              </c:strCache>
            </c:strRef>
          </c:tx>
          <c:spPr>
            <a:solidFill>
              <a:srgbClr val="90CA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2D31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SIC72A1</c:v>
                  </c:pt>
                  <c:pt idx="1">
                    <c:v>SIC4343</c:v>
                  </c:pt>
                  <c:pt idx="2">
                    <c:v>SIC279</c:v>
                  </c:pt>
                  <c:pt idx="3">
                    <c:v>SIC73F1</c:v>
                  </c:pt>
                  <c:pt idx="4">
                    <c:v>SIC7150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2.3</c:v>
                </c:pt>
                <c:pt idx="2">
                  <c:v>0.33</c:v>
                </c:pt>
                <c:pt idx="3">
                  <c:v>73.4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Actual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2D31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SIC72A1</c:v>
                  </c:pt>
                  <c:pt idx="1">
                    <c:v>SIC4343</c:v>
                  </c:pt>
                  <c:pt idx="2">
                    <c:v>SIC279</c:v>
                  </c:pt>
                  <c:pt idx="3">
                    <c:v>SIC73F1</c:v>
                  </c:pt>
                  <c:pt idx="4">
                    <c:v>SIC7150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0.17</c:v>
                </c:pt>
                <c:pt idx="1">
                  <c:v>0.06</c:v>
                </c:pt>
                <c:pt idx="2">
                  <c:v>0</c:v>
                </c:pt>
                <c:pt idx="3">
                  <c:v>64.8</c:v>
                </c:pt>
                <c:pt idx="4">
                  <c:v>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2D31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1" i="0" u="none" strike="noStrike">
                <a:solidFill>
                  <a:srgbClr val="2D31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7A85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2D314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Product Release — Portfolio Health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029200" y="365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LEAN Dashboard  ·  THB (33/USD)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694944"/>
            <a:ext cx="1572768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94944"/>
            <a:ext cx="36576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74066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75488" y="87782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" y="124358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Active · 2 Research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29968" y="694944"/>
            <a:ext cx="1572768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9968" y="694944"/>
            <a:ext cx="36576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139696" y="74066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39696" y="87782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114.7M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39696" y="124358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94176" y="694944"/>
            <a:ext cx="1572768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694944"/>
            <a:ext cx="36576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3803904" y="74066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REVENUE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03904" y="87782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69.6M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803904" y="124358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(2023–2025)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58384" y="694944"/>
            <a:ext cx="1572768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58384" y="694944"/>
            <a:ext cx="36576" cy="7772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5468112" y="74066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vs BC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68112" y="87782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–6.3M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68112" y="124358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vs Business Case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022592" y="694944"/>
            <a:ext cx="1572768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2592" y="694944"/>
            <a:ext cx="36576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74066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PROFIT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32320" y="877824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132320" y="124358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5760" y="16276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STATUS BY CHIP</a:t>
            </a:r>
            <a:endParaRPr lang="en-US" sz="8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228600" y="1828800"/>
          <a:ext cx="26517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365760" y="3383280"/>
            <a:ext cx="438912" cy="146304"/>
          </a:xfrm>
          <a:prstGeom prst="roundRect">
            <a:avLst>
              <a:gd name="adj" fmla="val 18750"/>
            </a:avLst>
          </a:prstGeom>
          <a:solidFill>
            <a:srgbClr val="2E7D32"/>
          </a:solidFill>
          <a:ln/>
        </p:spPr>
      </p:sp>
      <p:sp>
        <p:nvSpPr>
          <p:cNvPr id="33" name="Text 30"/>
          <p:cNvSpPr/>
          <p:nvPr/>
        </p:nvSpPr>
        <p:spPr>
          <a:xfrm>
            <a:off x="365760" y="338328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859536" y="338328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SIC73F1 · 7150 · 72A1 · 72A2 · 56NL · 379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365760" y="3566160"/>
            <a:ext cx="438912" cy="146304"/>
          </a:xfrm>
          <a:prstGeom prst="roundRect">
            <a:avLst>
              <a:gd name="adj" fmla="val 18750"/>
            </a:avLst>
          </a:prstGeom>
          <a:solidFill>
            <a:srgbClr val="E65100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356616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859536" y="356616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SIC279 (GT12)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365760" y="3749040"/>
            <a:ext cx="438912" cy="146304"/>
          </a:xfrm>
          <a:prstGeom prst="roundRect">
            <a:avLst>
              <a:gd name="adj" fmla="val 18750"/>
            </a:avLst>
          </a:prstGeom>
          <a:solidFill>
            <a:srgbClr val="C62828"/>
          </a:solidFill>
          <a:ln/>
        </p:spPr>
      </p:sp>
      <p:sp>
        <p:nvSpPr>
          <p:cNvPr id="39" name="Text 36"/>
          <p:cNvSpPr/>
          <p:nvPr/>
        </p:nvSpPr>
        <p:spPr>
          <a:xfrm>
            <a:off x="365760" y="374904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550" dirty="0"/>
          </a:p>
        </p:txBody>
      </p:sp>
      <p:sp>
        <p:nvSpPr>
          <p:cNvPr id="40" name="Text 37"/>
          <p:cNvSpPr/>
          <p:nvPr/>
        </p:nvSpPr>
        <p:spPr>
          <a:xfrm>
            <a:off x="859536" y="374904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SIC4343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365760" y="3931920"/>
            <a:ext cx="438912" cy="146304"/>
          </a:xfrm>
          <a:prstGeom prst="roundRect">
            <a:avLst>
              <a:gd name="adj" fmla="val 18750"/>
            </a:avLst>
          </a:prstGeom>
          <a:solidFill>
            <a:srgbClr val="9E9E9E"/>
          </a:solidFill>
          <a:ln/>
        </p:spPr>
      </p:sp>
      <p:sp>
        <p:nvSpPr>
          <p:cNvPr id="42" name="Text 39"/>
          <p:cNvSpPr/>
          <p:nvPr/>
        </p:nvSpPr>
        <p:spPr>
          <a:xfrm>
            <a:off x="365760" y="393192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550" dirty="0"/>
          </a:p>
        </p:txBody>
      </p:sp>
      <p:sp>
        <p:nvSpPr>
          <p:cNvPr id="43" name="Text 40"/>
          <p:cNvSpPr/>
          <p:nvPr/>
        </p:nvSpPr>
        <p:spPr>
          <a:xfrm>
            <a:off x="859536" y="393192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SIC824B · SIC73WR (Research)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2971800" y="16276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ROI: BC PROJECTION vs ACTUAL (THB M)</a:t>
            </a:r>
            <a:endParaRPr lang="en-US" sz="850" dirty="0"/>
          </a:p>
        </p:txBody>
      </p:sp>
      <p:graphicFrame>
        <p:nvGraphicFramePr>
          <p:cNvPr id="45" name="Chart 1" descr=""/>
          <p:cNvGraphicFramePr/>
          <p:nvPr/>
        </p:nvGraphicFramePr>
        <p:xfrm>
          <a:off x="2880360" y="1828800"/>
          <a:ext cx="34747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Text 42"/>
          <p:cNvSpPr/>
          <p:nvPr/>
        </p:nvSpPr>
        <p:spPr>
          <a:xfrm>
            <a:off x="2971800" y="37673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SIC73F1: </a:t>
            </a:r>
            <a:pPr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5.1x ROI (THB 12.8M inv → 64.8M rev)  ·  </a:t>
            </a:r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SIC7150: </a:t>
            </a:r>
            <a:pPr indent="0" marL="0">
              <a:buNone/>
            </a:pPr>
            <a:r>
              <a:rPr lang="en-US" sz="7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4.3M rev, no BC set yet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6446520" y="16276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&amp; ACTIONS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6446520" y="1883664"/>
            <a:ext cx="2423160" cy="475488"/>
          </a:xfrm>
          <a:prstGeom prst="rect">
            <a:avLst/>
          </a:prstGeom>
          <a:solidFill>
            <a:srgbClr val="FFEBEE"/>
          </a:solidFill>
          <a:ln w="6350">
            <a:solidFill>
              <a:srgbClr val="D0D7E2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446520" y="1883664"/>
            <a:ext cx="45720" cy="4754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0" name="Text 46"/>
          <p:cNvSpPr/>
          <p:nvPr/>
        </p:nvSpPr>
        <p:spPr>
          <a:xfrm>
            <a:off x="6556248" y="192024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SIC4343 — RED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6556248" y="20665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of BC (THB 64K of 2.3M)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viability review required</a:t>
            </a:r>
            <a:endParaRPr lang="en-US" sz="650" dirty="0"/>
          </a:p>
        </p:txBody>
      </p:sp>
      <p:sp>
        <p:nvSpPr>
          <p:cNvPr id="52" name="Shape 48"/>
          <p:cNvSpPr/>
          <p:nvPr/>
        </p:nvSpPr>
        <p:spPr>
          <a:xfrm>
            <a:off x="6446520" y="2432304"/>
            <a:ext cx="2423160" cy="475488"/>
          </a:xfrm>
          <a:prstGeom prst="rect">
            <a:avLst/>
          </a:prstGeom>
          <a:solidFill>
            <a:srgbClr val="FFF3E0"/>
          </a:solidFill>
          <a:ln w="6350">
            <a:solidFill>
              <a:srgbClr val="D0D7E2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446520" y="2432304"/>
            <a:ext cx="45720" cy="47548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4" name="Text 50"/>
          <p:cNvSpPr/>
          <p:nvPr/>
        </p:nvSpPr>
        <p:spPr>
          <a:xfrm>
            <a:off x="6556248" y="246888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GT12 (SIC279) — AMBER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6556248" y="26151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rev vs THB 330K BC target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ramp update due at PLM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6446520" y="2980944"/>
            <a:ext cx="2423160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6446520" y="2980944"/>
            <a:ext cx="45720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8" name="Text 54"/>
          <p:cNvSpPr/>
          <p:nvPr/>
        </p:nvSpPr>
        <p:spPr>
          <a:xfrm>
            <a:off x="6556248" y="301752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SIC73F1 — CONCENTRATION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6556248" y="31638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of portfolio revenue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yr payback, 88% of BC target</a:t>
            </a:r>
            <a:endParaRPr lang="en-US" sz="650" dirty="0"/>
          </a:p>
        </p:txBody>
      </p:sp>
      <p:sp>
        <p:nvSpPr>
          <p:cNvPr id="60" name="Shape 56"/>
          <p:cNvSpPr/>
          <p:nvPr/>
        </p:nvSpPr>
        <p:spPr>
          <a:xfrm>
            <a:off x="6446520" y="3529584"/>
            <a:ext cx="2423160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D0D7E2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6446520" y="3529584"/>
            <a:ext cx="45720" cy="47548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2" name="Text 58"/>
          <p:cNvSpPr/>
          <p:nvPr/>
        </p:nvSpPr>
        <p:spPr>
          <a:xfrm>
            <a:off x="6556248" y="3566160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PRESSURE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6556248" y="37124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SIC72A2 (32%) / SIC7150 (33%)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56% portfolio avg</a:t>
            </a:r>
            <a:endParaRPr lang="en-US" sz="650" dirty="0"/>
          </a:p>
        </p:txBody>
      </p:sp>
      <p:sp>
        <p:nvSpPr>
          <p:cNvPr id="64" name="Shape 60"/>
          <p:cNvSpPr/>
          <p:nvPr/>
        </p:nvSpPr>
        <p:spPr>
          <a:xfrm>
            <a:off x="0" y="4315968"/>
            <a:ext cx="9144000" cy="228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5" name="Shape 61"/>
          <p:cNvSpPr/>
          <p:nvPr/>
        </p:nvSpPr>
        <p:spPr>
          <a:xfrm>
            <a:off x="0" y="4338828"/>
            <a:ext cx="9144000" cy="5029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6" name="Text 62"/>
          <p:cNvSpPr/>
          <p:nvPr/>
        </p:nvSpPr>
        <p:spPr>
          <a:xfrm>
            <a:off x="365760" y="436168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750" dirty="0"/>
          </a:p>
        </p:txBody>
      </p:sp>
      <p:sp>
        <p:nvSpPr>
          <p:cNvPr id="67" name="Text 63"/>
          <p:cNvSpPr/>
          <p:nvPr/>
        </p:nvSpPr>
        <p:spPr>
          <a:xfrm>
            <a:off x="365760" y="449884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on track — </a:t>
            </a:r>
            <a:pPr indent="0" marL="0">
              <a:buNone/>
            </a:pPr>
            <a:r>
              <a:rPr lang="en-US" sz="7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8 active chips GREEN.  THB –6.3M variance driven by SIC73F1 (–8.6M vs BC, 88% trajectory) offset by five 2025 launches running ahead of biz case with no BC revenue targets yet set.  </a:t>
            </a:r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decisions needed: </a:t>
            </a:r>
            <a:pPr indent="0" marL="0">
              <a:buNone/>
            </a:pPr>
            <a:r>
              <a:rPr lang="en-US" sz="7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SIC4343 continue/kill, (2) SIC73F1 concentration mitigation plan.</a:t>
            </a:r>
            <a:endParaRPr lang="en-US" sz="750" dirty="0"/>
          </a:p>
        </p:txBody>
      </p:sp>
      <p:sp>
        <p:nvSpPr>
          <p:cNvPr id="68" name="Shape 6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Product Release Health Dashboard</dc:title>
  <dc:subject>PptxGenJS Presentation</dc:subject>
  <dc:creator>Marc Spiegel</dc:creator>
  <cp:lastModifiedBy>Marc Spiegel</cp:lastModifiedBy>
  <cp:revision>1</cp:revision>
  <dcterms:created xsi:type="dcterms:W3CDTF">2026-03-17T03:49:19Z</dcterms:created>
  <dcterms:modified xsi:type="dcterms:W3CDTF">2026-03-17T03:49:19Z</dcterms:modified>
</cp:coreProperties>
</file>