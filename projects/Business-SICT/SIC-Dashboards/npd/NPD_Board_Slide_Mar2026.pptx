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New Product Release — Health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LEAN Management Assessment  |  RAG = Trajectory vs Plan  |  Currency: THB  |  FX: 33 THB/USD  |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9 Products  |  8 Active  |  1 Research  |  Investment: ฿114.5M  |  Actual Rev: ฿69.6M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389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Segoe UI"/>
              </a:defRPr>
            </a:pPr>
            <a:r>
              <a:t>🟢 6 On Track    🟡 1 At Risk    🔴 1 Action Req'd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338328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3327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Segoe UI"/>
              </a:defRPr>
            </a:pPr>
            <a:r>
              <a:t>TOTAL PORTFOLIO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฿114.5M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$3.5M USD  |  9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960120"/>
            <a:ext cx="338328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03327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Segoe UI"/>
              </a:defRPr>
            </a:pPr>
            <a:r>
              <a:t>ACTUAL REVENUE (2023–2025)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252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฿69.6M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6184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vs BC ฿76.0M  |  Var: ฿-6.3M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960120"/>
            <a:ext cx="338328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03327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Segoe UI"/>
              </a:defRPr>
            </a:pPr>
            <a:r>
              <a:t>FORWARD REVENUE (2026–2030 BC)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52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฿991.4M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6184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Lifetime cumulative: ฿1060.9M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64240" y="960120"/>
            <a:ext cx="338328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01400" y="103327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Segoe UI"/>
              </a:defRPr>
            </a:pPr>
            <a:r>
              <a:t>WEIGHTED AVG GROSS PROFIT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1252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74.1%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16184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Revenue-weighted across active products  |  1 Amber, 1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19385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01  PRODUCT PORTFOLIO — LEAN SCORECARD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2194560"/>
          <a:ext cx="7955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85800"/>
                <a:gridCol w="640080"/>
                <a:gridCol w="914400"/>
                <a:gridCol w="914400"/>
                <a:gridCol w="914400"/>
                <a:gridCol w="594360"/>
                <a:gridCol w="548640"/>
                <a:gridCol w="640080"/>
                <a:gridCol w="50292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Chip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BC Rev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Actual Rev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Traj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GP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2201D-LFT-FOUP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SIC73F1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Q-Gate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฿12.8M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฿73.4M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฿64.8M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77%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2218D-SEN-SIC4343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SIC4343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R-Gate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฿1.5M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฿2.3M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฿64K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2003D-LFT-SIC7805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SIC7150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RFS-Gate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฿29.4M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฿4.3M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1805D-HDX3-SIC379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SIC379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RFS-Gate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฿17.1M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฿12K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2406D-CNT-GT12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SIC279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RFS-Gate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฿4.8M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฿330K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2415D-CNT-Dragon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SIC72A1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R-Gate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฿1.2M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฿167K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2417D-CNT-Marlin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SIC72A2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RFS-Gate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฿12.7M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฿164K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2112D-CNT-NFCV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SIC56NL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D3-Gate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฿34.9M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฿19K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2101R-SEN-4340BT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SIC824B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฿121K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02  ACTIONS REQUIRED — NO ORPHAN REDS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5120640"/>
          <a:ext cx="7040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371600"/>
                <a:gridCol w="2286000"/>
                <a:gridCol w="2880360"/>
              </a:tblGrid>
              <a:tr h="22860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What's Off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Action (Owner / Date)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2218D-SEN-SIC4343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Revenue at 3% of plan (2,193,013 THB gap)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Escalate to executive review — assess product viability and market fit (immediate)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2406D-CNT-GT12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Revenue at 0% of plan (330,000 THB gap)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Sales to provide customer status update and revised ramp forecast (next PLM review)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2201D-LFT-FOUP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GP 77% vs target 86% (-9%pp)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Finance + PLM to review cost structure and pricing (next monthly review)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2003D-LFT-SIC7805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Payback pace 4.5yr vs target 1.9yr (+2.6yr)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Executive review of product viability — consider restructure or exit (within 30 days)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2415D-CNT-Dragon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Payback pace 4.9yr vs target 2.1yr (+2.8yr)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Executive review of product viability — consider restructure or exit (within 30 days)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58952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03  FORWARD OUTLOOK — BIZ CASE PROJECTIONS (2026–2030)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589520" y="5120640"/>
          <a:ext cx="6675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85800"/>
                <a:gridCol w="1188720"/>
                <a:gridCol w="1188720"/>
                <a:gridCol w="2011680"/>
              </a:tblGrid>
              <a:tr h="22860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Chip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Fwd Rev (BC)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Cumulative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Proj ROI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2201D-LFT-FOUP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SIC73F1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฿240.5M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฿305.3M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22.9x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2112D-CNT-NFCV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SIC56NL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฿227.2M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฿227.2M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5.5x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2003D-LFT-SIC7805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SIC7150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฿176.3M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฿180.6M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5.2x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2417D-CNT-Marlin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SIC72A2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฿164.1M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฿164.2M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11.9x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1805D-HDX3-SIC379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SIC379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฿84.6M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฿84.6M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3.9x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2415D-CNT-Dragon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SIC72A1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฿49.3M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฿49.4M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39.1x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2218D-SEN-SIC4343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SIC4343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฿26.7M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฿26.8M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16.8x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2406D-CNT-GT12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SIC279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฿22.8M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฿22.8M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3.7x</a:t>
                      </a:r>
                    </a:p>
                  </a:txBody>
                  <a:tcPr anchor="ctr">
                    <a:solidFill>
                      <a:srgbClr val="172234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5760" y="7818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Segoe UI"/>
              </a:defRPr>
            </a:pPr>
            <a:r>
              <a:t>Silicon Craft Technology PLC (SET: SICT)  |  Confidential — Board Use Only  |  Prepared: March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78181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94A3B8"/>
                </a:solidFill>
                <a:latin typeface="Segoe UI"/>
              </a:defRPr>
            </a:pPr>
            <a:r>
              <a:t>RAG = Trajectory vs Plan (not snapshot)  |  No Orphan Reds  |  LEAN Scoring: Rev 40% + GP 30% + ROI 30%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